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构建权签票据一致性 AI 预审能力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核心判断：将票面信息抽取、字段映射、风险核验和人工反馈拉通为端到端闭环，辅助权签人聚焦高风险差异。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24028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19786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1. 票面文档输入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19786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支票 / 转账信 / 汇款申请书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9112" y="2948940"/>
            <a:ext cx="219456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31720" y="2240280"/>
            <a:ext cx="1417320" cy="141732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468880"/>
            <a:ext cx="119786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2. AI 原文抽取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926080"/>
            <a:ext cx="119786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输出 document_items，保留票面 Key/Value 原文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22192" y="2948940"/>
            <a:ext cx="219456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14800" y="2240280"/>
            <a:ext cx="1417320" cy="141732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2468880"/>
            <a:ext cx="119786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3. 规则字段映射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926080"/>
            <a:ext cx="119786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模板别名 + 字段规则 + AI 候选映射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05272" y="2948940"/>
            <a:ext cx="219456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897880" y="224028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8" y="2468880"/>
            <a:ext cx="119786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4. 一致性核验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926080"/>
            <a:ext cx="119786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系统指令 vs 票面字段，输出风险等级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88352" y="2948940"/>
            <a:ext cx="219456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80960" y="224028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2468880"/>
            <a:ext cx="119786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5. 权签人确认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926080"/>
            <a:ext cx="119786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人工聚焦风险并提交优化反馈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572000"/>
            <a:ext cx="23774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63440"/>
            <a:ext cx="221284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建设对象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572000"/>
            <a:ext cx="457200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663440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572000"/>
            <a:ext cx="457200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4663440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管理价值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13892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30368"/>
            <a:ext cx="221284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权签预审场景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1389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5230368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票面原文抽取、字段映射、风险规则、反馈沉淀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51389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5230368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降低人工逐项肉眼核对压力，提升问题聚焦效率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5705856"/>
            <a:ext cx="23774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797296"/>
            <a:ext cx="221284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模板运营机制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705856"/>
            <a:ext cx="45720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797296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模板别名、位置提示、规则边界、样本反馈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705856"/>
            <a:ext cx="45720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797296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让能力不依赖频繁发版，支持持续迭代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本项目定位为权签前风险初筛能力，不替代权签人最终判断，而是构建可运营、可解释、可迭代的预审底座。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从人工逐项核对升级为 AI 辅助风险初筛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核心判断：现有权签核对面对模板多、字段多、语言多和人员分散的复合压力，需要用智能化能力先完成一轮风险聚焦。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965960"/>
            <a:ext cx="1554480" cy="804672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38988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压力来源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965960"/>
            <a:ext cx="3749039" cy="804672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057400"/>
            <a:ext cx="3584447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现状表现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965960"/>
            <a:ext cx="3291840" cy="804672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79" y="2057400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对权签人的影响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965960"/>
            <a:ext cx="3291840" cy="804672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057400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AI 预审切入点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706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62072"/>
            <a:ext cx="138988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票据模板多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770632"/>
            <a:ext cx="37490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2862072"/>
            <a:ext cx="3584447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全球 200+ 银行模板，版式、语言和字段叫法差异明显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770632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79" y="2862072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难以依赖统一肉眼经验快速判断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770632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2862072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按模板沉淀别名、位置和抽取提示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75304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66744"/>
            <a:ext cx="138988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系统字段多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575304"/>
            <a:ext cx="3749039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3666744"/>
            <a:ext cx="3584447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MAP/AP 指令有几十个结构化字段，票面只出现子集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3575304"/>
            <a:ext cx="32918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79" y="3666744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需要判断哪些字段应参与本次核验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575304"/>
            <a:ext cx="32918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19" y="3666744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先抽取票面原文，再映射到系统字段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79976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71416"/>
            <a:ext cx="138988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兼职权签多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4379976"/>
            <a:ext cx="37490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4471416"/>
            <a:ext cx="3584447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600+ 权签人中大量兼职权签，职位层级较高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379976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79" y="4471416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使用体验对准确性和解释性要求高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4379976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4471416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突出风险项，通过项收起，保留证据链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84648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76088"/>
            <a:ext cx="138988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迭代周期长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5184648"/>
            <a:ext cx="3749039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40" y="5276088"/>
            <a:ext cx="3584447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办公系统版本周期约两个月，频繁发版成本高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5184648"/>
            <a:ext cx="32918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79" y="5276088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模板问题难以及时修正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5184648"/>
            <a:ext cx="32918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19" y="5276088"/>
            <a:ext cx="3127248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通过配置和反馈样本形成运营闭环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6565392"/>
            <a:ext cx="12893040" cy="329184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629400"/>
            <a:ext cx="1234440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80" b="1">
                <a:solidFill>
                  <a:srgbClr val="174C86"/>
                </a:solidFill>
                <a:latin typeface="Microsoft YaHei"/>
                <a:ea typeface="Microsoft YaHei"/>
                <a:cs typeface="Microsoft YaHei"/>
              </a:rPr>
              <a:t>评估口径建议：准确率、召回率、风险采纳率、反馈闭环率、权签人使用满意度。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第一阶段应以“高风险不漏报、误报可解释”为目标，避免把 Demo 做成只看模型炫技的识别工具。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将模型能力拆分为原文抽取与字段映射两层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核心判断：模型负责看懂票面并输出证据，系统负责可解释映射和一致性判断，避免模型直接替代业务规则。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965960"/>
            <a:ext cx="141732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2527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65960"/>
            <a:ext cx="274320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057400"/>
            <a:ext cx="25786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965960"/>
            <a:ext cx="306324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965960"/>
            <a:ext cx="306324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控制方式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0" y="1965960"/>
            <a:ext cx="214884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19" y="2057400"/>
            <a:ext cx="1984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关键风险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889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80360"/>
            <a:ext cx="12527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1. 票面原文抽取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889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80360"/>
            <a:ext cx="25786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票面图片 / 截图 / 扫描件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88036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原始 Key、Value、位置证据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78892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288036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提示词约束保留原文，不翻译、不补全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0" y="2788920"/>
            <a:ext cx="2148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19" y="2880360"/>
            <a:ext cx="1984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模型改写票面文字或幻觉补字段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611880"/>
            <a:ext cx="14173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03320"/>
            <a:ext cx="12527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2. 字段映射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611880"/>
            <a:ext cx="27432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3703320"/>
            <a:ext cx="25786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票面原文 + 模板规则 + 系统字段字典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70332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标准字段、原始标签、原始取值、映射来源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3611880"/>
            <a:ext cx="3063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370332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别名规则优先，AI 候选辅助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0" y="3611880"/>
            <a:ext cx="21488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19" y="3703320"/>
            <a:ext cx="1984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别名泛化过度导致误映射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43484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526279"/>
            <a:ext cx="12527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3. 规则核验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434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4526279"/>
            <a:ext cx="25786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系统支付指令 + 标准字段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43484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4526279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风险等级、差异说明、通过项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443484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4526279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金额、账号、币种、日期等规则化比对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4434840"/>
            <a:ext cx="2148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19" y="4526279"/>
            <a:ext cx="1984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通过项过多干扰权签人阅读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257800"/>
            <a:ext cx="14173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349240"/>
            <a:ext cx="12527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4. 反馈沉淀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5257800"/>
            <a:ext cx="27432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5349240"/>
            <a:ext cx="25786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人工确认、纠错、忽略、提交优化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5257800"/>
            <a:ext cx="3063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534924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模板别名、样本记录、调优建议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5257800"/>
            <a:ext cx="3063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79" y="5349240"/>
            <a:ext cx="2898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按模板和字段范围生效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5257800"/>
            <a:ext cx="21488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19" y="5349240"/>
            <a:ext cx="1984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19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跨模板配置污染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当前设计的关键不是让模型“猜最终字段”，而是让系统能够解释“票面写了什么、映射成什么、为什么提示风险”。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在付款核验主流程中完成反馈闭环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核心判断：反馈不应脱离业务流程单独存在，而应从一次真实预审风险出发，沉淀为当前模板下的可复用规则。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423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51760"/>
            <a:ext cx="110642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1. 选择付款任务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110642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系统指令 + 票面文件
模板由系统带出或人工修正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131820"/>
            <a:ext cx="237744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04288" y="2423160"/>
            <a:ext cx="1325880" cy="141732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4016" y="2651760"/>
            <a:ext cx="110642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2. 启动 AI 预审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3108960"/>
            <a:ext cx="110642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真实调用多模态模型
抽取票面原文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3131820"/>
            <a:ext cx="237743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14215" y="2423160"/>
            <a:ext cx="1325880" cy="141732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2651760"/>
            <a:ext cx="110642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3. 展示风险结果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3108960"/>
            <a:ext cx="110642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风险项展开
通过项默认收起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3131820"/>
            <a:ext cx="237744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4144" y="2423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651760"/>
            <a:ext cx="110642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4. 提交优化反馈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108960"/>
            <a:ext cx="110642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例如新增别名
入账行 -&gt; beneficiary_bank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23176" y="3131820"/>
            <a:ext cx="237744" cy="0"/>
          </a:xfrm>
          <a:prstGeom prst="line">
            <a:avLst/>
          </a:prstGeom>
          <a:ln w="25400">
            <a:solidFill>
              <a:srgbClr val="1D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434071" y="2423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2651760"/>
            <a:ext cx="1106424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5. 重新预审验证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108960"/>
            <a:ext cx="110642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重新真实提取与核验
确认配置生效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257800"/>
            <a:ext cx="210312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49240"/>
            <a:ext cx="1938527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演示用例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257800"/>
            <a:ext cx="457200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5349240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初始问题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5257800"/>
            <a:ext cx="292608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5349240"/>
            <a:ext cx="276148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人工动作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5257800"/>
            <a:ext cx="28346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5349240"/>
            <a:ext cx="267004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824728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916168"/>
            <a:ext cx="1938527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入账行别名漏识别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82472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5916168"/>
            <a:ext cx="440740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模型识别出“入账行”，但未正确映射到收款方银行字段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5824728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916168"/>
            <a:ext cx="276148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在当前模板下新增别名映射并保存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582472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5916168"/>
            <a:ext cx="267004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再次预审后风险消失或降级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业务用户看到的是一次完整核验旅程，产品侧沉淀的是可复用模板资产和高频问题样本。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以规则扩张为主、Prompt 辅助为辅控制映射边界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核心判断：别名配置不能简单堆进提示词，应通过规则明确生效范围，再让 Prompt 只补充当前模板必要上下文。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2057400"/>
            <a:ext cx="1600200" cy="84124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43560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策略维度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057400"/>
            <a:ext cx="3749039" cy="84124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148840"/>
            <a:ext cx="358444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不建议方式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59" y="2057400"/>
            <a:ext cx="3840480" cy="84124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599" y="2148840"/>
            <a:ext cx="367588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推荐方式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57400"/>
            <a:ext cx="3246120" cy="841248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2148840"/>
            <a:ext cx="308152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98648"/>
            <a:ext cx="1600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90088"/>
            <a:ext cx="143560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字段别名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898648"/>
            <a:ext cx="37490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990088"/>
            <a:ext cx="358444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把所有别名全部塞进 Prompt，让模型自由联想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2898648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599" y="2990088"/>
            <a:ext cx="367588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后端维护别名表，支持精确、包含、模糊等受控匹配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898648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990088"/>
            <a:ext cx="308152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减少“出款方账户/账号/出款账号”之间的无边界泛化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39896"/>
            <a:ext cx="160020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31335"/>
            <a:ext cx="143560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模板提示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739896"/>
            <a:ext cx="3749039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831335"/>
            <a:ext cx="358444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让 Prompt 承担全部模板规则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59" y="3739896"/>
            <a:ext cx="384048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599" y="3831335"/>
            <a:ext cx="367588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只写当前位置、票面习惯、特殊注意事项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739896"/>
            <a:ext cx="32461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831335"/>
            <a:ext cx="308152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让模型更好看图，但不替代系统规则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81144"/>
            <a:ext cx="1600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72583"/>
            <a:ext cx="143560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映射判断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4581144"/>
            <a:ext cx="37490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4672583"/>
            <a:ext cx="358444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直接信任模型输出的 normalized_field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59" y="4581144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599" y="4672583"/>
            <a:ext cx="367588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模型给候选，系统结合规则和置信度最终落字段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581144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672583"/>
            <a:ext cx="308152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保证可解释、可回溯、可运营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22392"/>
            <a:ext cx="160020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513831"/>
            <a:ext cx="143560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反馈生效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5422392"/>
            <a:ext cx="3749039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5513831"/>
            <a:ext cx="358444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全局立即生效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59" y="5422392"/>
            <a:ext cx="384048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599" y="5513831"/>
            <a:ext cx="3675888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按国家、银行、票据类型、模板版本限定范围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5422392"/>
            <a:ext cx="32461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5513831"/>
            <a:ext cx="3081527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避免不同模板间互相污染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配置体系的目标不是训练一个更会猜的模型，而是沉淀边界清晰、可解释、可回滚的规则资产。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将高频动作拆分为四类页面，降低业务理解成本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核心判断：模型配置、付款核验、模板调优和反馈样本应分工明确，避免把一次性设置和日常核验混在同一工作台。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2057400"/>
            <a:ext cx="150876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057400"/>
            <a:ext cx="150876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14884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057400"/>
            <a:ext cx="379476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3630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核心动作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057400"/>
            <a:ext cx="342900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148840"/>
            <a:ext cx="3264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52760" y="2057400"/>
            <a:ext cx="196596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2148840"/>
            <a:ext cx="1801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当前 Demo 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8036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7180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付款核验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88036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97180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权签人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880360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971800"/>
            <a:ext cx="3630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选择任务、上传票面、启动 AI 预审、查看风险、提交优化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971800"/>
            <a:ext cx="3264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系统指令与票面并列，风险项显性化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52760" y="288036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4200" y="2971800"/>
            <a:ext cx="1801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主流程已打通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03320"/>
            <a:ext cx="1508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94759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模板调优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703320"/>
            <a:ext cx="1508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3794759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业务配置人员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703320"/>
            <a:ext cx="3794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794759"/>
            <a:ext cx="3630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维护字段别名、位置提示、特殊条款、规则范围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703320"/>
            <a:ext cx="3429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94759"/>
            <a:ext cx="3264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少技术术语，按模板和字段组织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3703320"/>
            <a:ext cx="1965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4200" y="3794759"/>
            <a:ext cx="1801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已具备雏形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5262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1772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反馈样本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5262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4617720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运营 / AI 产品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526280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4617720"/>
            <a:ext cx="3630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查看纠错、忽略、确认不一致、提交优化记录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4526280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617720"/>
            <a:ext cx="3264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高频问题聚合，转规则或转样本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52760" y="45262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44200" y="4617720"/>
            <a:ext cx="1801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已展示记录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349240"/>
            <a:ext cx="1508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440679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系统设置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349240"/>
            <a:ext cx="1508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80" y="5440679"/>
            <a:ext cx="1344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5349240"/>
            <a:ext cx="37947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5440679"/>
            <a:ext cx="36301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配置模型 URL、模型名、API Key、文本/图片诊断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5349240"/>
            <a:ext cx="3429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440679"/>
            <a:ext cx="3264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一次性配置，不干扰日常核验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60" y="5349240"/>
            <a:ext cx="1965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44200" y="5440679"/>
            <a:ext cx="1801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已可配置和测试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面向演示时应突出付款核验主流程，模板调优和系统设置作为支撑能力放在后面说明。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沉淀可修改测试资产，支撑业务持续验证配置能力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核心判断：真实票据敏感不可外传，因此需要用可编辑 Word 和合成截图构建可复用、可扩展的测试样本体系。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2057400"/>
            <a:ext cx="192024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755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资产类型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057400"/>
            <a:ext cx="338328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321868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文件 / 样例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57400"/>
            <a:ext cx="393192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148840"/>
            <a:ext cx="37673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覆盖重点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60" y="2057400"/>
            <a:ext cx="310896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2148840"/>
            <a:ext cx="2944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使用方式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1755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中文支票 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2880360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71800"/>
            <a:ext cx="321868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cn_check_alias_feedback_case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8803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971800"/>
            <a:ext cx="37673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付款人、收款人、入账行、金额、币种、不可转让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288036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971800"/>
            <a:ext cx="2944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业务修改字段名和值后截图上传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59"/>
            <a:ext cx="1755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英文电汇 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3703320"/>
            <a:ext cx="338328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794759"/>
            <a:ext cx="321868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en_tt_payment_application_case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3703320"/>
            <a:ext cx="39319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794759"/>
            <a:ext cx="37673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Ordering Customer、Account With Institution、SWIFT、Charges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3703320"/>
            <a:ext cx="3108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3794759"/>
            <a:ext cx="2944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验证英文和跨境字段映射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2628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17720"/>
            <a:ext cx="1755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预置样例 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4526280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617720"/>
            <a:ext cx="321868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中文通过、金额差异、账号差异、别名漏识别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5262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4617720"/>
            <a:ext cx="37673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覆盖风险核验和反馈闭环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452628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4617720"/>
            <a:ext cx="2944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用于 Demo 快速切换与调试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34924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440679"/>
            <a:ext cx="17556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模型诊断脚本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5349240"/>
            <a:ext cx="338328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5440679"/>
            <a:ext cx="321868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test_model_api.py / image variants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5349240"/>
            <a:ext cx="39319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5440679"/>
            <a:ext cx="37673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文本链路、图片链路、base64 image_url 兼容性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60" y="5349240"/>
            <a:ext cx="3108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5440679"/>
            <a:ext cx="294436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定位公司网关和模型调用差异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6565392"/>
            <a:ext cx="12618720" cy="329184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6629400"/>
            <a:ext cx="119786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4C86"/>
                </a:solidFill>
                <a:latin typeface="Microsoft YaHei"/>
                <a:ea typeface="Microsoft YaHei"/>
                <a:cs typeface="Microsoft YaHei"/>
              </a:rPr>
              <a:t>建议指标位：样例覆盖数、字段覆盖率、模板覆盖率、反馈闭环率、模型结构化成功率。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测试资产需要像规则一样持续沉淀，后续才能支撑不同银行模板和不同语言场景的能力评估。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4C86"/>
          </a:solidFill>
          <a:ln>
            <a:solidFill>
              <a:srgbClr val="174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32588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以 MVP 验证带动模板运营和规模化推广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30352" cy="4572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344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2E3B4B"/>
                </a:solidFill>
                <a:latin typeface="Microsoft YaHei"/>
                <a:ea typeface="Microsoft YaHei"/>
                <a:cs typeface="Microsoft YaHei"/>
              </a:rPr>
              <a:t>核心判断：当前 Demo 已验证关键链路，下一步应从可演示闭环走向可评估、可运营、可接入 MAP 的产品化路径。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09344"/>
            <a:ext cx="13624560" cy="0"/>
          </a:xfrm>
          <a:prstGeom prst="line">
            <a:avLst/>
          </a:prstGeom>
          <a:ln w="12700">
            <a:solidFill>
              <a:srgbClr val="CD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2057400"/>
            <a:ext cx="1874519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7099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39" y="2057400"/>
            <a:ext cx="329184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2148840"/>
            <a:ext cx="3127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建设目标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057400"/>
            <a:ext cx="457200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19" y="2148840"/>
            <a:ext cx="4407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关键动作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057400"/>
            <a:ext cx="2514600" cy="822960"/>
          </a:xfrm>
          <a:prstGeom prst="rect">
            <a:avLst/>
          </a:prstGeom>
          <a:solidFill>
            <a:srgbClr val="EEF5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2148840"/>
            <a:ext cx="23500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D5FA7"/>
                </a:solidFill>
                <a:latin typeface="Microsoft YaHei"/>
                <a:ea typeface="Microsoft YaHei"/>
                <a:cs typeface="Microsoft YaHei"/>
              </a:rPr>
              <a:t>衡量指标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187451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17099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阶段一：Demo 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288036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2971800"/>
            <a:ext cx="3127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打通真实模型、字段抽取、规则核验、反馈闭环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79" y="288036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19" y="2971800"/>
            <a:ext cx="4407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完善样例、修正页面旅程、沉淀文档和汇报材料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288036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9" y="2971800"/>
            <a:ext cx="23500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结构化成功率、演示通过率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187451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59"/>
            <a:ext cx="17099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阶段二：试点模板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39" y="3703320"/>
            <a:ext cx="32918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79" y="3794759"/>
            <a:ext cx="3127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选取高频国家/银行模板进行小范围试点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79" y="3703320"/>
            <a:ext cx="4572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19" y="3794759"/>
            <a:ext cx="4407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建立模板识别、别名范围、特殊条款配置和反馈运营机制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3703320"/>
            <a:ext cx="2514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9" y="3794759"/>
            <a:ext cx="23500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风险召回率、误报率、反馈闭环率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26280"/>
            <a:ext cx="187451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17720"/>
            <a:ext cx="17099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阶段三：MAP 接入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39" y="452628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79" y="4617720"/>
            <a:ext cx="3127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由 MAP 管理系统字段、模板选择和转换规则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79" y="452628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19" y="4617720"/>
            <a:ext cx="4407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打通任务输入、票面上传、结果回写和权限边界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452628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4617720"/>
            <a:ext cx="23500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流程耗时、采纳率、问题定位效率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349240"/>
            <a:ext cx="187451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440679"/>
            <a:ext cx="170992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阶段四：规模运营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39" y="5349240"/>
            <a:ext cx="32918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79" y="5440679"/>
            <a:ext cx="312724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形成全球模板资产与规则运营体系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79" y="5349240"/>
            <a:ext cx="4572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19" y="5440679"/>
            <a:ext cx="44074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建立样本池、规则版本、回滚机制和效果报表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5349240"/>
            <a:ext cx="2514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9" y="5440679"/>
            <a:ext cx="2350008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模板覆盖率、规则沉淀量、用户满意度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7452360"/>
            <a:ext cx="64008" cy="502920"/>
          </a:xfrm>
          <a:prstGeom prst="rect">
            <a:avLst/>
          </a:prstGeom>
          <a:solidFill>
            <a:srgbClr val="C57918"/>
          </a:solidFill>
          <a:ln>
            <a:solidFill>
              <a:srgbClr val="C57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7498079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C57918"/>
                </a:solidFill>
                <a:latin typeface="Microsoft YaHei"/>
                <a:ea typeface="Microsoft YaHei"/>
                <a:cs typeface="Microsoft YaHei"/>
              </a:rPr>
              <a:t>关键结论：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7498079"/>
            <a:ext cx="12252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7212F"/>
                </a:solidFill>
                <a:latin typeface="Microsoft YaHei"/>
                <a:ea typeface="Microsoft YaHei"/>
                <a:cs typeface="Microsoft YaHei"/>
              </a:rPr>
              <a:t>后续重点不是单次模型效果展示，而是形成“模板资产 + 规则资产 + 反馈样本 + 效果指标”的持续运营机制。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7973568"/>
            <a:ext cx="3931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Bill Verification AI Pre-audit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