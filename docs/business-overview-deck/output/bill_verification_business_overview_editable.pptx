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构建模板字段驱动的权签票据 AI 预审能力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核心判断：业务先定义当前模板要核验哪些系统字段，AI 按字段清单定向提取，系统再用别名规则补映射并提示风险。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4864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选择核验模板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带出本次待检查系统字段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3911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3172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4144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AI 定向提取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输出 document_items / extracted_fields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2219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114800" y="2240280"/>
            <a:ext cx="141732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别名补映射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模板别名规则兜底生成字段映射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0527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89788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0760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函数包核验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0760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系统指令 vs 票面字段，输出风险等级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388352" y="2948940"/>
            <a:ext cx="219456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680960" y="2240280"/>
            <a:ext cx="141732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8" y="2468880"/>
            <a:ext cx="119786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权签人确认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90688" y="2926080"/>
            <a:ext cx="119786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聚焦风险并沉淀优化反馈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" y="4572000"/>
            <a:ext cx="23774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663440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建设对象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383280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0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核心能力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79" y="45720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46719" y="46634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管理价值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05840" y="5138928"/>
            <a:ext cx="23774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97280" y="5230368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权签预审场景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模板字段清单、票面原文、系统映射、风险结果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51389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46719" y="52303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让权签人先看风险项，而不是逐字肉眼遍历票面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5840" y="5705856"/>
            <a:ext cx="237744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97280" y="5797296"/>
            <a:ext cx="22128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模板运营机制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383280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74720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模板新增/复制、字段增删改、票面别名、AI 识别说明、反馈样本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55279" y="5705856"/>
            <a:ext cx="4572000" cy="56692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19" y="5797296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让字段叫法和模板差异通过配置持续迭代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最新方案把“该提什么”前移到模板配置，把“怎么映射”落实为 Prompt 辅助 + 后端规则兜底。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从人工逐项核对升级为 AI 辅助风险初筛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核心判断：现有权签核对面对模板多、字段多、语言多和人员分散的复合压力，需要用智能化能力先完成一轮风险聚焦。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1965960"/>
            <a:ext cx="155448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057400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压力来源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1965960"/>
            <a:ext cx="3749039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2057400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现状表现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7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对权签人的影响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98280" y="1965960"/>
            <a:ext cx="3291840" cy="804672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89719" y="2057400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AI 预审切入点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70632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862072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票据模板多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57400" y="2770632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48840" y="2862072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全球 200+ 银行模板，版式、语言和字段叫法差异明显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7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难以依赖统一肉眼经验快速判断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98280" y="2770632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89719" y="2862072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按模板沉淀别名、位置和抽取提示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575304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666744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系统字段多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575304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48840" y="3666744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MAP/AP 指令有几十个结构化字段，票面只出现子集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7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需要判断哪些字段应参与本次核验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98280" y="3575304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89719" y="3666744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先抽取票面原文，再映射到系统字段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79976"/>
            <a:ext cx="155448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471416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兼职权签多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4379976"/>
            <a:ext cx="3749039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48840" y="4471416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600+ 权签人中大量兼职权签，职位层级较高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7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使用体验对准确性和解释性要求高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379976"/>
            <a:ext cx="329184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89719" y="4471416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突出风险项，通过项收起，保留证据链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184648"/>
            <a:ext cx="155448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276088"/>
            <a:ext cx="138988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迭代周期长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57400" y="5184648"/>
            <a:ext cx="3749039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48840" y="5276088"/>
            <a:ext cx="3584447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办公系统版本周期约两个月，频繁发版成本高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模板问题难以及时修正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98280" y="5184648"/>
            <a:ext cx="3291840" cy="804672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19" y="5276088"/>
            <a:ext cx="3127248" cy="694944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通过配置和反馈样本形成运营闭环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6565392"/>
            <a:ext cx="1289304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4400" y="6629400"/>
            <a:ext cx="1234440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8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评估口径建议：准确率、召回率、风险采纳率、反馈闭环率、权签人使用满意度。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第一阶段应以“高风险不漏报、误报可解释”为目标，避免把 Demo 做成只看模型炫技的识别工具。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 AI 预审拆成字段配置、模型提取和规则补映射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核心判断：模型负责看图和提取候选，系统负责限定字段范围、补足别名映射和保留可解释证据链。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965960"/>
            <a:ext cx="14173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层级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0" y="1965960"/>
            <a:ext cx="27432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205740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35240" y="1965960"/>
            <a:ext cx="3063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205740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控制方式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98480" y="1965960"/>
            <a:ext cx="2148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19" y="205740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关键风险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78892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88036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1. 模板字段配置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28800" y="278892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920240" y="288036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银行/国家/单据模板 + MAP 字段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待检查字段、系统来源、票面别名、AI 识别说明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635240" y="278892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26679" y="288036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只有发布模板才启动 AI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98480" y="278892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19" y="288036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未配置模板无法进入预审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61188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0332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2. 模型定向提取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828800" y="361188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920240" y="370332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票面图片 + 当前模板字段清单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双层 JSON 结果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635240" y="361188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370332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Prompt 要求保留原文并限制字段集合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98480" y="361188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89919" y="370332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模型只返回原文但漏掉字段映射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434840"/>
            <a:ext cx="14173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526279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3. 后端补映射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4434840"/>
            <a:ext cx="27432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20240" y="4526279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 + 模板别名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mapped_field、系统来源字段、mapping_source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35240" y="4434840"/>
            <a:ext cx="3063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526279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别名规则按模板范围确定性生效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98480" y="4434840"/>
            <a:ext cx="2148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89919" y="4526279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别名过宽导致误映射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257800"/>
            <a:ext cx="14173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349240"/>
            <a:ext cx="12527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4. 规则核验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828800" y="5257800"/>
            <a:ext cx="27432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920240" y="5349240"/>
            <a:ext cx="25786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系统支付指令 + 标准字段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风险项、通过项、证据和置信度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635240" y="5257800"/>
            <a:ext cx="3063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726679" y="5349240"/>
            <a:ext cx="2898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MAP/交易系统函数包负责最终比对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98480" y="5257800"/>
            <a:ext cx="2148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89919" y="5349240"/>
            <a:ext cx="1984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19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比对规则归属不清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当前设计要求 JSON 同时回答三件事：票面写了什么、对应哪个系统字段、这个映射来自模型还是模板别名规则。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完整作业流按输入输出拆清楚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核心判断：每个环节都要明确输入、处理、输出和责任系统，避免把模型提取、字段映射和最终核验混成一个黑盒。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1965960"/>
            <a:ext cx="15087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环节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1965960"/>
            <a:ext cx="26517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057400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965960"/>
            <a:ext cx="288036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2057400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处理动作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52360" y="1965960"/>
            <a:ext cx="274320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43800" y="2057400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195560" y="1965960"/>
            <a:ext cx="2377440" cy="60350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0" y="2057400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责任边界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569464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660904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1. 模板选择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569464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660904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付款任务、银行、国家、单据类型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0" y="2569464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2660904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系统带出或人工选择模板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52360" y="2569464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800" y="2660904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template_id、待检查字段清单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95560" y="2569464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2660904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MAP/AP 或交易系统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172968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264408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2. 字段配置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3172968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3264408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模板字段、系统来源、票面别名、AI 识别说明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0" y="3172968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0" y="3264408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发布模板字段配置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52360" y="3172968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43800" y="3264408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可调用 AI 的字段清单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60" y="3172968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87000" y="3264408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业务配置 + MAP 管控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776472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867911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3. AI 预审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3776472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3867911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票面图片、template_id、字段清单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0" y="3776472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0" y="3867911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模型定向提取票面信息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52360" y="3776472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43800" y="3867911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 / extracted_fields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195560" y="3776472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87000" y="3867911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AI 产品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4379976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4471416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4. 补映射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4379976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11680" y="4471416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document_items、模板别名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0" y="4379976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4471416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raw_key 命中别名时补字段映射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52360" y="4379976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43800" y="4471416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mapped_field、mapping_source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195560" y="4379976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87000" y="4471416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AI 后端规则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4983480"/>
            <a:ext cx="1508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074920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5. 函数包核验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920240" y="4983480"/>
            <a:ext cx="26517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011680" y="5074920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系统支付指令、标准字段、票面值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0" y="4983480"/>
            <a:ext cx="288036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63440" y="5074920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金额、日期、账号、名称等规则比对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452360" y="4983480"/>
            <a:ext cx="274320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543800" y="5074920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风险项、通过项、证据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195560" y="4983480"/>
            <a:ext cx="2377440" cy="603504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287000" y="5074920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MAP/交易系统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1480" y="5586983"/>
            <a:ext cx="1508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5678423"/>
            <a:ext cx="1344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6. 人工反馈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920240" y="5586983"/>
            <a:ext cx="26517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2011680" y="5678423"/>
            <a:ext cx="24871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风险项、证据、字段配置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572000" y="5586983"/>
            <a:ext cx="288036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663440" y="5678423"/>
            <a:ext cx="271576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确认、忽略、纠错、提交优化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452360" y="5586983"/>
            <a:ext cx="274320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543800" y="5678423"/>
            <a:ext cx="257860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反馈样本、别名或提示建议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95560" y="5586983"/>
            <a:ext cx="2377440" cy="603504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287000" y="5678423"/>
            <a:ext cx="2212848" cy="49377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权签人 + 运营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产品上要把 AI 输出看成中间证据，不是最终判断；最终权签核验结果应由系统规则和人工确认共同闭环。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核验页从“选择模板”开始逐字段输出预审结果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核心判断：权签人进入页面先看到模板字段清单，AI 预审后每个待检查系统字段都有提取结果或风险提示。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94360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4088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1. 选择模板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展示待检查系统字段
样例任务可自动带出模板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93392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2304288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14016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2. 输入任务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4016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系统支付指令 + 票面文件
并列预览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703320" y="3131820"/>
            <a:ext cx="237743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014215" y="2423160"/>
            <a:ext cx="1325880" cy="141732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23944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3. AI 逐字段提取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23944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字段有值则展示证据
未提取则标记风险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13248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5724144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33872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4. 提交优化反馈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33872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例如新增别名
入账行 -&gt; beneficiary_bank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23176" y="3131820"/>
            <a:ext cx="237744" cy="0"/>
          </a:xfrm>
          <a:prstGeom prst="line">
            <a:avLst/>
          </a:prstGeom>
          <a:ln w="25400">
            <a:solidFill>
              <a:srgbClr val="1D5FA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7434071" y="2423160"/>
            <a:ext cx="132588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43799" y="2651760"/>
            <a:ext cx="1106424" cy="2560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5. 重新预审验证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43799" y="3108960"/>
            <a:ext cx="1106424" cy="6675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5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重新真实提取与核验
确认配置生效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5257800"/>
            <a:ext cx="210312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349240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演示用例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5257800"/>
            <a:ext cx="457200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5349240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初始问题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5257800"/>
            <a:ext cx="292608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5349240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人工动作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515600" y="5257800"/>
            <a:ext cx="2834640" cy="56692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607040" y="5349240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验证结果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824728"/>
            <a:ext cx="21031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5840" y="5916168"/>
            <a:ext cx="1938527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入账行别名漏识别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5824728"/>
            <a:ext cx="457200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5916168"/>
            <a:ext cx="440740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原文有“入账行”，但结构化结果没有收款方银行字段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5824728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80960" y="5916168"/>
            <a:ext cx="276148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在当前模板下新增别名映射并保存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515600" y="5824728"/>
            <a:ext cx="283464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5916168"/>
            <a:ext cx="2670048" cy="45720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0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后端补出 mapped_field，再次预审后风险消失或降级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业务用户看到的是逐字段风险闭环，产品侧沉淀的是模板字段、别名规则和可复用反馈样本。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别名配置采用“Prompt 辅助 + 后端补映射”双通道生效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核心判断：业务改一个字段叫法后，既能帮助模型理解票面，也能让后端在模型漏映射时确定性补齐字段。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60020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配置项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057400"/>
            <a:ext cx="3749039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94560" y="2148840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 Prompt 的作用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59" y="2057400"/>
            <a:ext cx="384048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599" y="2148840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进入后端规则的作用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92640" y="2057400"/>
            <a:ext cx="3246120" cy="841248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0" y="2148840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边界控制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98648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90088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字段别名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2898648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990088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告诉模型票面可能叫法，例如入账行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59" y="2898648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599" y="2990088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raw_key 命中别名时补系统字段映射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0" y="2898648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0" y="2990088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限定在当前模板字段内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39896"/>
            <a:ext cx="160020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831335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AI 识别说明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03120" y="3739896"/>
            <a:ext cx="3749039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3831335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合并说明字段含义、常见位置和提取注意事项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59" y="3739896"/>
            <a:ext cx="384048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599" y="3831335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不直接做规则匹配，只作为模型理解提示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3739896"/>
            <a:ext cx="3246120" cy="841248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3831335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避免自然语言描述变成泛化规则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81144"/>
            <a:ext cx="16002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72583"/>
            <a:ext cx="143560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反馈优化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103120" y="4581144"/>
            <a:ext cx="3749039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94560" y="4672583"/>
            <a:ext cx="358444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下次调用模型时带入新叫法或更清晰的提取说明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59" y="4581144"/>
            <a:ext cx="3840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599" y="4672583"/>
            <a:ext cx="3675888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保存为模板别名或 AI 识别说明建议，支持回滚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692640" y="4581144"/>
            <a:ext cx="32461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4080" y="4672583"/>
            <a:ext cx="3081527" cy="73152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按模板版本发布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配置体系不再只是“把词塞进 Prompt”，而是让业务配置同时约束模型输入和系统后处理。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将高频动作拆分为四类页面，降低业务理解成本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核心判断：模型配置、付款核验、模板调优和反馈样本应分工明确，避免把一次性设置和日常核验混在同一工作台。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1148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页面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1920240" y="2057400"/>
            <a:ext cx="1508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214884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主要用户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2057400"/>
            <a:ext cx="37947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214884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核心动作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23760" y="2057400"/>
            <a:ext cx="3429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214884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展示重点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652760" y="2057400"/>
            <a:ext cx="1965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44200" y="214884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当前 Demo 状态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付款核验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20240" y="288036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11680" y="297180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权签人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288036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20440" y="297180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选择模板、查看字段清单、上传票面、启动 AI 预审、提交优化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88036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0" y="297180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每个模板字段都有提取结果或风险提示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52760" y="288036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44200" y="297180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主流程已打通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模板调优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920240" y="370332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379475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业务配置人员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370332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520440" y="379475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新增/复制模板，增删改字段，维护票面别名和 AI 识别说明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23760" y="370332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0" y="379475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少技术术语，按模板和字段组织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370332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744200" y="379475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已支持基础管理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反馈样本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920240" y="4526280"/>
            <a:ext cx="1508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11680" y="4617720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运营 / AI 产品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29000" y="4526280"/>
            <a:ext cx="37947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0440" y="4617720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查看纠错、忽略、确认不一致、提交优化记录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223760" y="4526280"/>
            <a:ext cx="3429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617720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高频问题聚合，转规则或转样本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652760" y="4526280"/>
            <a:ext cx="1965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744200" y="4617720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已展示记录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0292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系统设置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920240" y="5349240"/>
            <a:ext cx="1508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011680" y="5440679"/>
            <a:ext cx="1344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管理员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29000" y="5349240"/>
            <a:ext cx="37947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20440" y="5440679"/>
            <a:ext cx="36301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配置模型 URL、模型名、API Key、文本/图片诊断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349240"/>
            <a:ext cx="3429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0" y="5440679"/>
            <a:ext cx="3264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一次性配置，不干扰日常核验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652760" y="5349240"/>
            <a:ext cx="1965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744200" y="5440679"/>
            <a:ext cx="1801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0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已可配置和测试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面向演示时应突出付款核验主流程，模板调优和系统设置作为支撑能力放在后面说明。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沉淀可修改测试资产，支撑业务持续验证配置能力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核心判断：真实票据敏感不可外传，因此需要用可编辑 Word 和合成截图构建可复用、可扩展的测试样本体系。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资产类型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2423160" y="2057400"/>
            <a:ext cx="338328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14600" y="214884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文件 / 样例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2057400"/>
            <a:ext cx="393192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7880" y="214884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覆盖重点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738360" y="2057400"/>
            <a:ext cx="310896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29800" y="214884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使用方式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中文支票 Word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23160" y="288036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14600" y="297180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cn_check_alias_feedback_case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88036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97880" y="297180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付款人、收款人、入账行、金额、币种、不可转让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38360" y="288036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29800" y="297180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业务修改字段名和值后截图上传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英文电汇 Word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23160" y="370332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14600" y="379475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en_tt_payment_application_case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70332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97880" y="379475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Ordering Customer、Bank、SWIFT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370332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9800" y="379475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验证英文和跨境字段映射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预置样例 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423160" y="4526280"/>
            <a:ext cx="338328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514600" y="4617720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中文通过、金额差异、账号差异、别名漏识别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526280"/>
            <a:ext cx="3931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97880" y="4617720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覆盖风险核验和反馈闭环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38360" y="452628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829800" y="4617720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用于 Demo 快速切换与调试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9202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556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模型诊断脚本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423160" y="5349240"/>
            <a:ext cx="338328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5440679"/>
            <a:ext cx="321868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test_model_api.py / image variants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5349240"/>
            <a:ext cx="393192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80" y="5440679"/>
            <a:ext cx="37673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文本链路、图片链路、base64 image_url 兼容性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738360" y="5349240"/>
            <a:ext cx="310896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29800" y="5440679"/>
            <a:ext cx="294436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定位公司网关和模型调用差异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6565392"/>
            <a:ext cx="12618720" cy="329184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6629400"/>
            <a:ext cx="11978640" cy="21945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50" b="1">
                <a:solidFill>
                  <a:srgbClr val="174C86"/>
                </a:solidFill>
                <a:latin typeface="Microsoft YaHei"/>
                <a:ea typeface="Microsoft YaHei"/>
                <a:cs typeface="Microsoft YaHei"/>
              </a:rPr>
              <a:t>建议指标位：样例覆盖数、字段覆盖率、模板覆盖率、反馈闭环率、模型结构化成功率。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测试资产需要像规则一样持续沉淀，后续才能支撑不同银行模板和不同语言场景的能力评估。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91440"/>
          </a:xfrm>
          <a:prstGeom prst="rect">
            <a:avLst/>
          </a:prstGeom>
          <a:solidFill>
            <a:srgbClr val="174C86"/>
          </a:solidFill>
          <a:ln>
            <a:solidFill>
              <a:srgbClr val="174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3258800" cy="43891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以 MVP 验证带动模板运营和规模化推广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78408"/>
            <a:ext cx="530352" cy="45720"/>
          </a:xfrm>
          <a:prstGeom prst="rect">
            <a:avLst/>
          </a:prstGeom>
          <a:solidFill>
            <a:srgbClr val="1D5FA7"/>
          </a:solidFill>
          <a:ln>
            <a:solidFill>
              <a:srgbClr val="1D5F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225296"/>
            <a:ext cx="13441680" cy="310896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20" b="0">
                <a:solidFill>
                  <a:srgbClr val="2E3B4B"/>
                </a:solidFill>
                <a:latin typeface="Microsoft YaHei"/>
                <a:ea typeface="Microsoft YaHei"/>
                <a:cs typeface="Microsoft YaHei"/>
              </a:rPr>
              <a:t>核心判断：当前 Demo 已验证模板选择、真实模型提取、别名补映射、风险核验和反馈闭环，下一步应接入 MAP 配置与函数包。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1609344"/>
            <a:ext cx="13624560" cy="0"/>
          </a:xfrm>
          <a:prstGeom prst="line">
            <a:avLst/>
          </a:prstGeom>
          <a:ln w="12700">
            <a:solidFill>
              <a:srgbClr val="CDD6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02920" y="2057400"/>
            <a:ext cx="1874519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14884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阶段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39" y="2057400"/>
            <a:ext cx="329184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79" y="214884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建设目标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79" y="2057400"/>
            <a:ext cx="45720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19" y="214884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关键动作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241280" y="2057400"/>
            <a:ext cx="2514600" cy="822960"/>
          </a:xfrm>
          <a:prstGeom prst="rect">
            <a:avLst/>
          </a:prstGeom>
          <a:solidFill>
            <a:srgbClr val="EEF5FC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332719" y="214884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130" b="1">
                <a:solidFill>
                  <a:srgbClr val="1D5FA7"/>
                </a:solidFill>
                <a:latin typeface="Microsoft YaHei"/>
                <a:ea typeface="Microsoft YaHei"/>
                <a:cs typeface="Microsoft YaHei"/>
              </a:rPr>
              <a:t>衡量指标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8036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297180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阶段一：Demo 验证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39" y="288036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68879" y="297180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打通模板字段、模型提取、补映射、风险核验和反馈闭环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79" y="288036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19" y="297180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完善样例、刷新页面旅程、沉淀文档和汇报材料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41280" y="288036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32719" y="297180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结构化成功率、演示通过率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70332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79475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阶段二：试点模板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77439" y="370332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68879" y="379475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选取高频国家/银行模板进行小范围试点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79" y="370332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19" y="379475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建立模板选择、别名范围、特殊条款配置和反馈运营机制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41280" y="370332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32719" y="379475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风险召回率、误报率、反馈闭环率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526280"/>
            <a:ext cx="1874519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4617720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阶段三：MAP 接入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39" y="4526280"/>
            <a:ext cx="32918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68879" y="4617720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由 MAP 管理系统字段、模板发布和比对函数包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79" y="4526280"/>
            <a:ext cx="45720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60719" y="4617720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打通任务输入、票面上传、结果回写和权限边界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41280" y="4526280"/>
            <a:ext cx="2514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332719" y="4617720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流程耗时、采纳率、问题定位效率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349240"/>
            <a:ext cx="1874519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440679"/>
            <a:ext cx="170992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阶段四：规模运营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377439" y="5349240"/>
            <a:ext cx="329184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68879" y="5440679"/>
            <a:ext cx="312724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形成全球模板资产与规则运营体系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79" y="5349240"/>
            <a:ext cx="45720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760719" y="5440679"/>
            <a:ext cx="44074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建立样本池、规则版本、回滚机制和效果报表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41280" y="5349240"/>
            <a:ext cx="2514600" cy="822960"/>
          </a:xfrm>
          <a:prstGeom prst="rect">
            <a:avLst/>
          </a:prstGeom>
          <a:solidFill>
            <a:srgbClr val="F5F7FA"/>
          </a:solidFill>
          <a:ln w="12700">
            <a:solidFill>
              <a:srgbClr val="CDD6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332719" y="5440679"/>
            <a:ext cx="2350008" cy="713232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940" b="0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模板覆盖率、规则沉淀量、用户满意度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7452360"/>
            <a:ext cx="64008" cy="502920"/>
          </a:xfrm>
          <a:prstGeom prst="rect">
            <a:avLst/>
          </a:prstGeom>
          <a:solidFill>
            <a:srgbClr val="C57918"/>
          </a:solidFill>
          <a:ln>
            <a:solidFill>
              <a:srgbClr val="C579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7498079"/>
            <a:ext cx="1051560" cy="320040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C57918"/>
                </a:solidFill>
                <a:latin typeface="Microsoft YaHei"/>
                <a:ea typeface="Microsoft YaHei"/>
                <a:cs typeface="Microsoft YaHei"/>
              </a:rPr>
              <a:t>关键结论：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00200" y="7498079"/>
            <a:ext cx="12252960" cy="38404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1250" b="1">
                <a:solidFill>
                  <a:srgbClr val="17212F"/>
                </a:solidFill>
                <a:latin typeface="Microsoft YaHei"/>
                <a:ea typeface="Microsoft YaHei"/>
                <a:cs typeface="Microsoft YaHei"/>
              </a:rPr>
              <a:t>后续重点不是单次模型效果展示，而是形成“模板资产 + 规则资产 + 反馈样本 + 效果指标”的持续运营机制。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7973568"/>
            <a:ext cx="3931920" cy="201168"/>
          </a:xfrm>
          <a:prstGeom prst="rect">
            <a:avLst/>
          </a:prstGeom>
          <a:noFill/>
        </p:spPr>
        <p:txBody>
          <a:bodyPr wrap="square" lIns="27432" rIns="27432" tIns="18288" bIns="18288" anchor="t">
            <a:spAutoFit/>
          </a:bodyPr>
          <a:lstStyle/>
          <a:p>
            <a:pPr algn="l"/>
            <a:r>
              <a:rPr sz="850" b="0">
                <a:solidFill>
                  <a:srgbClr val="8A96A3"/>
                </a:solidFill>
                <a:latin typeface="Microsoft YaHei"/>
                <a:ea typeface="Microsoft YaHei"/>
                <a:cs typeface="Microsoft YaHei"/>
              </a:rPr>
              <a:t>Bill Verification AI Pre-audit | 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